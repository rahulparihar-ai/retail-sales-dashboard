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BEE Lab Project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DD7EE"/>
                </a:solidFill>
                <a:latin typeface="Calibri"/>
              </a:rPr>
              <a:t>Retail Sales Analytics: Excel &amp; Power BI Dashboards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926080"/>
            <a:ext cx="11612880" cy="36576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200400"/>
            <a:ext cx="2560320" cy="100584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3246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$334,395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D7EE"/>
                </a:solidFill>
                <a:latin typeface="Calibri"/>
              </a:rPr>
              <a:t>Total Sales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3200400"/>
            <a:ext cx="2560320" cy="100584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246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$51,612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D7EE"/>
                </a:solidFill>
                <a:latin typeface="Calibri"/>
              </a:rPr>
              <a:t>Total Profit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3200400"/>
            <a:ext cx="2560320" cy="100584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246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15.4%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D7EE"/>
                </a:solidFill>
                <a:latin typeface="Calibri"/>
              </a:rPr>
              <a:t>Profit Margin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3200400"/>
            <a:ext cx="2560320" cy="100584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3246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D7EE"/>
                </a:solidFill>
                <a:latin typeface="Calibri"/>
              </a:rPr>
              <a:t>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Calibri"/>
              </a:rPr>
              <a:t>Rahul Parihar  |  Roll No: 268  |  JECRC Foundation, Jaipur  |  Business &amp; Economic Environment (BEE) Lab  |  April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BDD7EE"/>
                </a:solidFill>
                <a:latin typeface="Calibri"/>
              </a:rPr>
              <a:t>Submitted by: Rahul Parihar  |  Roll No: 268  |  JECRC Foundation, Jaipur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BDD7EE"/>
                </a:solidFill>
                <a:latin typeface="Calibri"/>
              </a:rPr>
              <a:t>Faculty Guide: Prof. Ram Singh  |  Business &amp; Economic Environment (BEE)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 / 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01  Problem Statement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56816"/>
            <a:ext cx="11247120" cy="64008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02  Dataset Overview (300 Orders | 2020-2022)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24912"/>
            <a:ext cx="11247120" cy="640080"/>
          </a:xfrm>
          <a:prstGeom prst="rect">
            <a:avLst/>
          </a:prstGeom>
          <a:solidFill>
            <a:srgbClr val="375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03  Excel Dashboard — Store Sales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93008"/>
            <a:ext cx="11247120" cy="640080"/>
          </a:xfrm>
          <a:prstGeom prst="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04  Power BI Dashboard — Retail Sales &amp; Forecast BI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61104"/>
            <a:ext cx="11247120" cy="640080"/>
          </a:xfrm>
          <a:prstGeom prst="rect">
            <a:avLst/>
          </a:prstGeom>
          <a:solidFill>
            <a:srgbClr val="C55A1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05  Key DAX Measures Explained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solidFill>
            <a:srgbClr val="833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06  Key Findings &amp; Business Insights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97296"/>
            <a:ext cx="11247120" cy="64008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07  Limitations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"Retail businesses generate large volumes of transactional data but often lack tools to extract insights.
This project builds two interactive BI dashboards — in Excel and Power BI — enabling stakeholders
to monitor KPIs, track trends, and forecast sales without programming knowledge."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11247120" cy="621792"/>
          </a:xfrm>
          <a:prstGeom prst="rect">
            <a:avLst/>
          </a:prstGeom>
          <a:solidFill>
            <a:srgbClr val="EBF3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  Build Excel Dashboard with Pivot Tables, PivotCharts &amp; Slicers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22191"/>
            <a:ext cx="11247120" cy="621792"/>
          </a:xfrm>
          <a:prstGeom prst="rect">
            <a:avLst/>
          </a:prstGeom>
          <a:solidFill>
            <a:srgbClr val="EBF3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  Build Power BI Dashboard with 16 DAX measures &amp; 3-month Forecast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35424"/>
            <a:ext cx="11247120" cy="621792"/>
          </a:xfrm>
          <a:prstGeom prst="rect">
            <a:avLst/>
          </a:prstGeom>
          <a:solidFill>
            <a:srgbClr val="EBF3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  Perform 3-Year YoY &amp; MoM Sales Trend Analysis (2020-2022)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248656"/>
            <a:ext cx="11247120" cy="621792"/>
          </a:xfrm>
          <a:prstGeom prst="rect">
            <a:avLst/>
          </a:prstGeom>
          <a:solidFill>
            <a:srgbClr val="EBF3F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  Identify top products, loss-making sub-categories, best regions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64008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300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Total Records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3474720" cy="64008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361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2020 / 2021 / 2022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88720"/>
            <a:ext cx="3474720" cy="640080"/>
          </a:xfrm>
          <a:prstGeom prst="rect">
            <a:avLst/>
          </a:prstGeom>
          <a:solidFill>
            <a:srgbClr val="375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14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Full Attribute 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3474720" cy="640080"/>
          </a:xfrm>
          <a:prstGeom prst="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80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Tech | Furniture | Office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834640"/>
            <a:ext cx="3474720" cy="640080"/>
          </a:xfrm>
          <a:prstGeom prst="rect">
            <a:avLst/>
          </a:prstGeom>
          <a:solidFill>
            <a:srgbClr val="C55A1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880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 Regions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18211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E | W | Central |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834640"/>
            <a:ext cx="3474720" cy="640080"/>
          </a:xfrm>
          <a:prstGeom prst="rect">
            <a:avLst/>
          </a:prstGeom>
          <a:solidFill>
            <a:srgbClr val="833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880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21 Losses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18211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High-discount orders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File: retail_sales_final.csv  |  Source: Kaggle Superstore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Category Split:  Technology $250,980 (75%)  |  Furniture $74,164 (22%)  |  Office Supplies $9,251 (3%)
Region Split:    West $101,195  |  South $84,679  |  East $81,436  |  Central $67,086
Segment Split:   Consumer $159,089 (48%)  |  Corporate $101,812 (30%)  |  Home Office $73,494 (22%)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75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Section 2: Excel Dashboard — Store Sales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KPI cards (10 total) + 3 PivotCharts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SalesData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300-row formatted Excel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5394960" cy="457200"/>
          </a:xfrm>
          <a:prstGeom prst="rect">
            <a:avLst/>
          </a:prstGeom>
          <a:solidFill>
            <a:srgbClr val="375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PT_Category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Sales &amp; Profit by Category × Region + Bar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834640"/>
            <a:ext cx="5394960" cy="457200"/>
          </a:xfrm>
          <a:prstGeom prst="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PT_YearlyComparison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3375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2020 vs 2021 vs 2022 monthly trend + Line Chart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5394960" cy="457200"/>
          </a:xfrm>
          <a:prstGeom prst="rect">
            <a:avLst/>
          </a:prstGeom>
          <a:solidFill>
            <a:srgbClr val="C55A1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PT_TopProducts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8348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Top 10 products by profit + Horizontal Bar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480560"/>
            <a:ext cx="5394960" cy="457200"/>
          </a:xfrm>
          <a:prstGeom prst="rect">
            <a:avLst/>
          </a:prstGeom>
          <a:solidFill>
            <a:srgbClr val="833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PT_SubCategory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8348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All sub-categories ranked by profit (losses in red)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solidFill>
            <a:srgbClr val="375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Slicers: Region | Category | Segment | Year | Date Timeline — all connected via Report Connections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Section 3: Power BI Dashboard — Retail Sales &amp; Forecast BI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Data Model: Star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DateTable [1] ──────── [*] SalesData
Relationship: DateTable[Date] → SalesData[Order Date]
DateTable marked as official Date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097280"/>
            <a:ext cx="5394960" cy="91440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Report Pages (4 total)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03120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  1. Overview  — KPI Cards + Map +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423160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  2. Category Analysis  — Matrix + Scatter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  3. Regional View  — Filled Map + Treemap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063239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  4. Forecast  — 3-month projection (95% CI)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Slicers: Date Range | Category | Region | Segment  (synced across all 4 pages)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Forecasting: Analytics Pane → Forecast → 3 months ahead | Confidence: 95% | Seasonality: Auto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solidFill>
            <a:srgbClr val="375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Export: File → Export → PDF  |  Save as .pbix for submission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55A1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DAX Measures — Power BI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137160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Total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280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SUM(SalesData[Sales])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2011680"/>
            <a:ext cx="2743200" cy="457200"/>
          </a:xfrm>
          <a:prstGeom prst="rect">
            <a:avLst/>
          </a:prstGeom>
          <a:solidFill>
            <a:srgbClr val="375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$334,395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2011680" cy="137160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Profit Margin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280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DIVIDE([Profit],[Sales],0)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011680"/>
            <a:ext cx="2743200" cy="457200"/>
          </a:xfrm>
          <a:prstGeom prst="rect">
            <a:avLst/>
          </a:prstGeom>
          <a:solidFill>
            <a:srgbClr val="375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15.4%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2011680" cy="137160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YTD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926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TOTALYTD([Total Sales],DateTable[Date])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3657600"/>
            <a:ext cx="2743200" cy="457200"/>
          </a:xfrm>
          <a:prstGeom prst="rect">
            <a:avLst/>
          </a:prstGeom>
          <a:solidFill>
            <a:srgbClr val="375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Cumulative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834640"/>
            <a:ext cx="2011680" cy="137160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YoY Growth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26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DIVIDE([Sales]-[Sales PY],[Sales PY],0)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657600"/>
            <a:ext cx="2743200" cy="457200"/>
          </a:xfrm>
          <a:prstGeom prst="rect">
            <a:avLst/>
          </a:prstGeom>
          <a:solidFill>
            <a:srgbClr val="375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+61.9%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2011680" cy="137160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MoM Growth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DIVIDE([Sales]-[Sales PM],[Sales PM],0)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5303520"/>
            <a:ext cx="2743200" cy="457200"/>
          </a:xfrm>
          <a:prstGeom prst="rect">
            <a:avLst/>
          </a:prstGeom>
          <a:solidFill>
            <a:srgbClr val="375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Monthly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480560"/>
            <a:ext cx="2011680" cy="137160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Loss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CALCULATE([Orders],Profit&lt;0)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5303520"/>
            <a:ext cx="2743200" cy="457200"/>
          </a:xfrm>
          <a:prstGeom prst="rect">
            <a:avLst/>
          </a:prstGeom>
          <a:solidFill>
            <a:srgbClr val="375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21 orders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Findings &amp; Business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566160" cy="54864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Technology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75% of revenue — Laptops &amp; Phones lead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188720"/>
            <a:ext cx="3566160" cy="548640"/>
          </a:xfrm>
          <a:prstGeom prst="rect">
            <a:avLst/>
          </a:prstGeom>
          <a:solidFill>
            <a:srgbClr val="375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2021 Best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7830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YoY Growth +61.9% — highest across 3 years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188720"/>
            <a:ext cx="3566160" cy="54864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West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$101,195 in sales — highest region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3566160" cy="548640"/>
          </a:xfrm>
          <a:prstGeom prst="rect">
            <a:avLst/>
          </a:prstGeom>
          <a:solidFill>
            <a:srgbClr val="C55A1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Loss 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Bookcases &amp; Tables lose money (high discounts)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474720"/>
            <a:ext cx="3566160" cy="548640"/>
          </a:xfrm>
          <a:prstGeom prst="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Consumer 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0690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48% revenue share — largest segment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474720"/>
            <a:ext cx="3566160" cy="548640"/>
          </a:xfrm>
          <a:prstGeom prst="rect">
            <a:avLst/>
          </a:prstGeom>
          <a:solidFill>
            <a:srgbClr val="833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2022 Dip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0690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-6.8% YoY — investigate cause for recovery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1612880" cy="36576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DD7EE"/>
                </a:solidFill>
                <a:latin typeface="Calibri"/>
              </a:rPr>
              <a:t>This project successfully demonstrates a complete Business Intelligence workflow —
from raw retail CSV data to two fully interactive dashboards using Excel and Power BI.
The Excel dashboard enables Pivot Table-based KPI monitoring with interactive Slicers,
while the Power BI dashboard provides advanced DAX analytics, Star Schema modeling,
and 3-month sales forecasting with 95% confidence intervals.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2560320" cy="54864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Excel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Store_Sales_Dashboard_FINAL.xlsx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3474720"/>
            <a:ext cx="2560320" cy="54864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Word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069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BEE_Lab_Report_FINAL.docx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474720"/>
            <a:ext cx="2560320" cy="54864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Power BI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DAX_Measures.dax + Setup Guide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3474720"/>
            <a:ext cx="2560320" cy="54864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069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DD7EE"/>
                </a:solidFill>
                <a:latin typeface="Calibri"/>
              </a:rPr>
              <a:t>retail_sales_final.csv (300 rows)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Calibri"/>
              </a:rPr>
              <a:t>Rahul Parihar  |  Roll No: 268  |  JECRC Foundation, Jaipur  |  April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